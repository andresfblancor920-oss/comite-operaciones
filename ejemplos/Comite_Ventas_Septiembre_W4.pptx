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Premium semanal (m²)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F'cast semanal</c:v>
                </c:pt>
              </c:strCache>
            </c:strRef>
          </c:tx>
          <c:spPr>
            <a:solidFill>
              <a:srgbClr val="8FB3D9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38633.0</c:v>
                </c:pt>
                <c:pt idx="1">
                  <c:v>24925.0</c:v>
                </c:pt>
                <c:pt idx="2">
                  <c:v>29909.0</c:v>
                </c:pt>
                <c:pt idx="3">
                  <c:v>31155.0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Real/Proy semanal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41472.0</c:v>
                </c:pt>
                <c:pt idx="1">
                  <c:v>25162.0</c:v>
                </c:pt>
                <c:pt idx="2">
                  <c:v>25413.0</c:v>
                </c:pt>
                <c:pt idx="3">
                  <c:v>32575.0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Budget vs F'cast vs Real (m²)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3C9D1"/>
            </a:solidFill>
          </c:spPr>
          <c:cat>
            <c:strRef>
              <c:f>Sheet1!$A$2:$A$7</c:f>
              <c:strCache>
                <c:ptCount val="6"/>
                <c:pt idx="0">
                  <c:v>Envolventes</c:v>
                </c:pt>
                <c:pt idx="1">
                  <c:v>Refrigeración</c:v>
                </c:pt>
                <c:pt idx="2">
                  <c:v>KingCore</c:v>
                </c:pt>
                <c:pt idx="3">
                  <c:v>Single Skin</c:v>
                </c:pt>
                <c:pt idx="4">
                  <c:v>Ducto</c:v>
                </c:pt>
                <c:pt idx="5">
                  <c:v>Línea Arquitectónica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91536.0</c:v>
                </c:pt>
                <c:pt idx="1">
                  <c:v>43141.0</c:v>
                </c:pt>
                <c:pt idx="2">
                  <c:v>27974.0</c:v>
                </c:pt>
                <c:pt idx="3">
                  <c:v>20387.0</c:v>
                </c:pt>
                <c:pt idx="4">
                  <c:v>1385.0</c:v>
                </c:pt>
                <c:pt idx="5">
                  <c:v>3182.0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F'cast actual</c:v>
                </c:pt>
              </c:strCache>
            </c:strRef>
          </c:tx>
          <c:spPr>
            <a:solidFill>
              <a:srgbClr val="8FB3D9"/>
            </a:solidFill>
          </c:spPr>
          <c:cat>
            <c:strRef>
              <c:f>Sheet1!$A$2:$A$7</c:f>
              <c:strCache>
                <c:ptCount val="6"/>
                <c:pt idx="0">
                  <c:v>Envolventes</c:v>
                </c:pt>
                <c:pt idx="1">
                  <c:v>Refrigeración</c:v>
                </c:pt>
                <c:pt idx="2">
                  <c:v>KingCore</c:v>
                </c:pt>
                <c:pt idx="3">
                  <c:v>Single Skin</c:v>
                </c:pt>
                <c:pt idx="4">
                  <c:v>Ducto</c:v>
                </c:pt>
                <c:pt idx="5">
                  <c:v>Línea Arquitectónica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83329.0</c:v>
                </c:pt>
                <c:pt idx="1">
                  <c:v>41293.0</c:v>
                </c:pt>
                <c:pt idx="2">
                  <c:v>25931.0</c:v>
                </c:pt>
                <c:pt idx="3">
                  <c:v>4594.0</c:v>
                </c:pt>
                <c:pt idx="4">
                  <c:v>1044.0</c:v>
                </c:pt>
                <c:pt idx="5">
                  <c:v>718.0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Real Sales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Envolventes</c:v>
                </c:pt>
                <c:pt idx="1">
                  <c:v>Refrigeración</c:v>
                </c:pt>
                <c:pt idx="2">
                  <c:v>KingCore</c:v>
                </c:pt>
                <c:pt idx="3">
                  <c:v>Single Skin</c:v>
                </c:pt>
                <c:pt idx="4">
                  <c:v>Ducto</c:v>
                </c:pt>
                <c:pt idx="5">
                  <c:v>Línea Arquitectónica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80178.0</c:v>
                </c:pt>
                <c:pt idx="1">
                  <c:v>33426.0</c:v>
                </c:pt>
                <c:pt idx="2">
                  <c:v>25209.0</c:v>
                </c:pt>
                <c:pt idx="3">
                  <c:v>3251.0</c:v>
                </c:pt>
                <c:pt idx="4">
                  <c:v>1044.0</c:v>
                </c:pt>
                <c:pt idx="5">
                  <c:v>264.0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8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Mix de revenue por grupo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 COP)</c:v>
                </c:pt>
              </c:strCache>
            </c:strRef>
          </c:tx>
          <c:dPt>
            <c:idx val="0"/>
            <c:spPr>
              <a:solidFill>
                <a:srgbClr val="0B2545"/>
              </a:solidFill>
            </c:spPr>
          </c:dPt>
          <c:dPt>
            <c:idx val="1"/>
            <c:spPr>
              <a:solidFill>
                <a:srgbClr val="1F6FB2"/>
              </a:solidFill>
            </c:spPr>
          </c:dPt>
          <c:dPt>
            <c:idx val="2"/>
            <c:spPr>
              <a:solidFill>
                <a:srgbClr val="5F9EA0"/>
              </a:solidFill>
            </c:spPr>
          </c:dPt>
          <c:dPt>
            <c:idx val="3"/>
            <c:spPr>
              <a:solidFill>
                <a:srgbClr val="8FB3D9"/>
              </a:solidFill>
            </c:spPr>
          </c:dPt>
          <c:dPt>
            <c:idx val="4"/>
            <c:spPr>
              <a:solidFill>
                <a:srgbClr val="9AA5B1"/>
              </a:solidFill>
            </c:spPr>
          </c:dPt>
          <c:dPt>
            <c:idx val="5"/>
            <c:spPr>
              <a:solidFill>
                <a:srgbClr val="D9B36C"/>
              </a:solidFill>
            </c:spPr>
          </c:dPt>
          <c:dPt>
            <c:idx val="6"/>
            <c:spPr>
              <a:solidFill>
                <a:srgbClr val="E07A5F"/>
              </a:solidFill>
            </c:spPr>
          </c:dPt>
          <c:dLbls>
            <c:dLbl>
              <c:idx val="5"/>
              <c:delete val="1"/>
            </c:dLbl>
            <c:dLbl>
              <c:idx val="3"/>
              <c:delete val="1"/>
            </c:dLbl>
            <c:dLbl>
              <c:idx val="2"/>
              <c:delete val="1"/>
            </c:dLbl>
            <c:numFmt formatCode="0%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Premium</c:v>
                </c:pt>
                <c:pt idx="1">
                  <c:v>Estándar</c:v>
                </c:pt>
                <c:pt idx="2">
                  <c:v>Arquitectónica</c:v>
                </c:pt>
                <c:pt idx="3">
                  <c:v>Proyectos</c:v>
                </c:pt>
                <c:pt idx="4">
                  <c:v>Accesorios</c:v>
                </c:pt>
                <c:pt idx="5">
                  <c:v>Puertas</c:v>
                </c:pt>
                <c:pt idx="6">
                  <c:v>ICO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13647.832339</c:v>
                </c:pt>
                <c:pt idx="1">
                  <c:v>1565.907691</c:v>
                </c:pt>
                <c:pt idx="2">
                  <c:v>20.5</c:v>
                </c:pt>
                <c:pt idx="3">
                  <c:v>328.0</c:v>
                </c:pt>
                <c:pt idx="4">
                  <c:v>1007.0</c:v>
                </c:pt>
                <c:pt idx="5">
                  <c:v>83.05</c:v>
                </c:pt>
                <c:pt idx="6">
                  <c:v>1251.189846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Revenue por línea (millones COP)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(M COP)</c:v>
                </c:pt>
              </c:strCache>
            </c:strRef>
          </c:tx>
          <c:spPr>
            <a:solidFill>
              <a:srgbClr val="0B2545"/>
            </a:solidFill>
          </c:spPr>
          <c:dPt>
            <c:idx val="0"/>
            <c:spPr>
              <a:solidFill>
                <a:srgbClr val="0B2545"/>
              </a:solidFill>
            </c:spPr>
          </c:dPt>
          <c:dPt>
            <c:idx val="1"/>
            <c:spPr>
              <a:solidFill>
                <a:srgbClr val="0B2545"/>
              </a:solidFill>
            </c:spPr>
          </c:dPt>
          <c:dPt>
            <c:idx val="2"/>
            <c:spPr>
              <a:solidFill>
                <a:srgbClr val="E07A5F"/>
              </a:solidFill>
            </c:spPr>
          </c:dPt>
          <c:dPt>
            <c:idx val="3"/>
            <c:spPr>
              <a:solidFill>
                <a:srgbClr val="9AA5B1"/>
              </a:solidFill>
            </c:spPr>
          </c:dPt>
          <c:dPt>
            <c:idx val="4"/>
            <c:spPr>
              <a:solidFill>
                <a:srgbClr val="1F6FB2"/>
              </a:solidFill>
            </c:spPr>
          </c:dPt>
          <c:dPt>
            <c:idx val="5"/>
            <c:spPr>
              <a:solidFill>
                <a:srgbClr val="1F6FB2"/>
              </a:solidFill>
            </c:spPr>
          </c:dPt>
          <c:dPt>
            <c:idx val="6"/>
            <c:spPr>
              <a:solidFill>
                <a:srgbClr val="8FB3D9"/>
              </a:solidFill>
            </c:spPr>
          </c:dPt>
          <c:dPt>
            <c:idx val="7"/>
            <c:spPr>
              <a:solidFill>
                <a:srgbClr val="1F6FB2"/>
              </a:solidFill>
            </c:spPr>
          </c:dPt>
          <c:dPt>
            <c:idx val="8"/>
            <c:spPr>
              <a:solidFill>
                <a:srgbClr val="D9B36C"/>
              </a:solidFill>
            </c:spPr>
          </c:dPt>
          <c:dPt>
            <c:idx val="9"/>
            <c:spPr>
              <a:solidFill>
                <a:srgbClr val="1F6FB2"/>
              </a:solidFill>
            </c:spPr>
          </c:dPt>
          <c:dPt>
            <c:idx val="10"/>
            <c:spPr>
              <a:solidFill>
                <a:srgbClr val="5F9EA0"/>
              </a:solidFill>
            </c:spPr>
          </c:dPt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Envolventes</c:v>
                </c:pt>
                <c:pt idx="1">
                  <c:v>Refrigeración</c:v>
                </c:pt>
                <c:pt idx="2">
                  <c:v>Facturación ICO</c:v>
                </c:pt>
                <c:pt idx="3">
                  <c:v>Fijaciones y Accesorios</c:v>
                </c:pt>
                <c:pt idx="4">
                  <c:v>KingCore</c:v>
                </c:pt>
                <c:pt idx="5">
                  <c:v>Traslúcida</c:v>
                </c:pt>
                <c:pt idx="6">
                  <c:v>Proyectos</c:v>
                </c:pt>
                <c:pt idx="7">
                  <c:v>Single Skin</c:v>
                </c:pt>
                <c:pt idx="8">
                  <c:v>Puertas</c:v>
                </c:pt>
                <c:pt idx="9">
                  <c:v>Ducto</c:v>
                </c:pt>
                <c:pt idx="10">
                  <c:v>Línea Arquitectónica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9169.606489</c:v>
                </c:pt>
                <c:pt idx="1">
                  <c:v>4478.22585</c:v>
                </c:pt>
                <c:pt idx="2">
                  <c:v>1251.189846</c:v>
                </c:pt>
                <c:pt idx="3">
                  <c:v>1007.0</c:v>
                </c:pt>
                <c:pt idx="4">
                  <c:v>836.015895</c:v>
                </c:pt>
                <c:pt idx="5">
                  <c:v>573.52</c:v>
                </c:pt>
                <c:pt idx="6">
                  <c:v>328.0</c:v>
                </c:pt>
                <c:pt idx="7">
                  <c:v>103.998996</c:v>
                </c:pt>
                <c:pt idx="8">
                  <c:v>83.05</c:v>
                </c:pt>
                <c:pt idx="9">
                  <c:v>52.3728</c:v>
                </c:pt>
                <c:pt idx="10">
                  <c:v>20.5</c:v>
                </c:pt>
              </c:numCache>
            </c:numRef>
          </c:val>
        </c:ser>
        <c:gapWidth val="35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8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Order Intake semanal (m²)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C3C9D1"/>
            </a:solidFill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36930.0</c:v>
                </c:pt>
                <c:pt idx="1">
                  <c:v>36930.0</c:v>
                </c:pt>
                <c:pt idx="2">
                  <c:v>36930.0</c:v>
                </c:pt>
                <c:pt idx="3">
                  <c:v>36929.0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Ganado</c:v>
                </c:pt>
              </c:strCache>
            </c:strRef>
          </c:tx>
          <c:spPr>
            <a:solidFill>
              <a:srgbClr val="0B254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25901.0</c:v>
                </c:pt>
                <c:pt idx="1">
                  <c:v>41491.0</c:v>
                </c:pt>
                <c:pt idx="2">
                  <c:v>45187.0</c:v>
                </c:pt>
                <c:pt idx="3">
                  <c:v>27588.0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Por ganar (ponderado)</c:v>
                </c:pt>
              </c:strCache>
            </c:strRef>
          </c:tx>
          <c:spPr>
            <a:solidFill>
              <a:srgbClr val="8FB3D9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1F2937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6650.0</c:v>
                </c:pt>
              </c:numCache>
            </c:numRef>
          </c:val>
        </c:ser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Calibri"/>
              </a:rPr>
              <a:t>Acumulado del mes vs Budget (m²)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acumulado</c:v>
                </c:pt>
              </c:strCache>
            </c:strRef>
          </c:tx>
          <c:spPr>
            <a:ln w="28575">
              <a:solidFill>
                <a:srgbClr val="C3C9D1"/>
              </a:solidFill>
            </a:ln>
          </c:spPr>
          <c:marker>
            <c:symbol val="circle"/>
            <c:size val="6"/>
            <c:spPr>
              <a:solidFill>
                <a:srgbClr val="C3C9D1"/>
              </a:solidFill>
              <a:ln>
                <a:solidFill>
                  <a:srgbClr val="C3C9D1"/>
                </a:solidFill>
              </a:ln>
            </c:spPr>
          </c:marker>
          <c:dLbls>
            <c:numFmt formatCode="#,##0;-#,##0;;" sourceLinked="0"/>
            <c:txPr>
              <a:bodyPr/>
              <a:lstStyle/>
              <a:p>
                <a:pPr>
                  <a:defRPr sz="800" b="0">
                    <a:solidFill>
                      <a:srgbClr val="6B728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36930.0</c:v>
                </c:pt>
                <c:pt idx="1">
                  <c:v>73860.0</c:v>
                </c:pt>
                <c:pt idx="2">
                  <c:v>110790.0</c:v>
                </c:pt>
                <c:pt idx="3">
                  <c:v>147719.0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Ganado acumulado</c:v>
                </c:pt>
              </c:strCache>
            </c:strRef>
          </c:tx>
          <c:spPr>
            <a:ln w="28575">
              <a:solidFill>
                <a:srgbClr val="0B2545"/>
              </a:solidFill>
            </a:ln>
          </c:spPr>
          <c:marker>
            <c:symbol val="circle"/>
            <c:size val="6"/>
            <c:spPr>
              <a:solidFill>
                <a:srgbClr val="0B2545"/>
              </a:solidFill>
              <a:ln>
                <a:solidFill>
                  <a:srgbClr val="0B2545"/>
                </a:solidFill>
              </a:ln>
            </c:spPr>
          </c:marker>
          <c:dLbls>
            <c:numFmt formatCode="#,##0;-#,##0;;" sourceLinked="0"/>
            <c:txPr>
              <a:bodyPr/>
              <a:lstStyle/>
              <a:p>
                <a:pPr>
                  <a:defRPr sz="800" b="1">
                    <a:solidFill>
                      <a:srgbClr val="0B2545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25901.0</c:v>
                </c:pt>
                <c:pt idx="1">
                  <c:v>67392.0</c:v>
                </c:pt>
                <c:pt idx="2">
                  <c:v>112579.0</c:v>
                </c:pt>
                <c:pt idx="3">
                  <c:v>140167.0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Proyectado (ganado + pipeline)</c:v>
                </c:pt>
              </c:strCache>
            </c:strRef>
          </c:tx>
          <c:spPr>
            <a:ln w="28575">
              <a:solidFill>
                <a:srgbClr val="1F6FB2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1F6FB2"/>
              </a:solidFill>
              <a:ln>
                <a:solidFill>
                  <a:srgbClr val="1F6FB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25901.0</c:v>
                </c:pt>
                <c:pt idx="1">
                  <c:v>67392.0</c:v>
                </c:pt>
                <c:pt idx="2">
                  <c:v>112579.0</c:v>
                </c:pt>
                <c:pt idx="3">
                  <c:v>146817.0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9D1"/>
            </a:solidFill>
          </a:ln>
        </c:spPr>
        <c:txPr>
          <a:bodyPr/>
          <a:lstStyle/>
          <a:p>
            <a:pPr>
              <a:defRPr sz="900">
                <a:solidFill>
                  <a:srgbClr val="1F2937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 w="6350">
              <a:solidFill>
                <a:srgbClr val="DDE2E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solidFill>
            <a:srgbClr val="1F2937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Volumen de ventas en m². Real Sales = facturado acumulado; Cierre proyectado = Real de semanas cerradas + proyección de la semana en curso. Los gráficos se editan con clic derecho &gt; Editar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= F'cast actual del mes valorizado en COP. El subtotal Estándar incluye Traslúcida en m² y COP; su % de performance se mide solo sobre las líneas que tienen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Intake = m² adjudicados (negocios ganados). Proyección = pipeline ponderado por probabilidad (hoja Pipeline). Los gráficos se editan con clic derecho &gt; Editar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Ventas Septiembre · Volumen (m²)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F'cast vs Budget vs Real Sales por línea y cumplimiento semanal · Corte W4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Comité de Operaciones</a:t>
            </a:r>
          </a:p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Customer Excellence ·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Fuente: Plantilla_Ventas_OrderIntake.xlsx · Corte W4 · Semáforo: verde ≥ 95%, amarillo ≥ 85%, rojo &lt; 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REAL SALES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113.604 m²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1856231"/>
            <a:ext cx="118872" cy="1188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92223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84%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del Budget (134.677)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CIERRE PROYECTADO PREMIUM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124.622 m²</a:t>
            </a:r>
          </a:p>
        </p:txBody>
      </p:sp>
      <p:sp>
        <p:nvSpPr>
          <p:cNvPr id="15" name="Oval 14"/>
          <p:cNvSpPr/>
          <p:nvPr/>
        </p:nvSpPr>
        <p:spPr>
          <a:xfrm>
            <a:off x="3456432" y="1856231"/>
            <a:ext cx="118872" cy="118872"/>
          </a:xfrm>
          <a:prstGeom prst="ellipse">
            <a:avLst/>
          </a:prstGeom>
          <a:solidFill>
            <a:srgbClr val="C7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792223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78A00"/>
                </a:solidFill>
                <a:latin typeface="Calibri"/>
              </a:rPr>
              <a:t>93%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del Budget · F'cast 124.622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REAL SALES ESTÁNDAR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29.504 m²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1856231"/>
            <a:ext cx="118872" cy="1188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792223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59%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del Budget (49.746)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GAP TOTAL VS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-44.233 m²</a:t>
            </a:r>
          </a:p>
        </p:txBody>
      </p:sp>
      <p:sp>
        <p:nvSpPr>
          <p:cNvPr id="25" name="Oval 24"/>
          <p:cNvSpPr/>
          <p:nvPr/>
        </p:nvSpPr>
        <p:spPr>
          <a:xfrm>
            <a:off x="9217152" y="1856231"/>
            <a:ext cx="118872" cy="1188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1792223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76%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Real 143.372 de 187.605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2286000"/>
          <a:ext cx="7223757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47716"/>
                <a:gridCol w="693111"/>
                <a:gridCol w="731617"/>
                <a:gridCol w="731617"/>
                <a:gridCol w="731617"/>
                <a:gridCol w="770123"/>
                <a:gridCol w="554489"/>
                <a:gridCol w="554489"/>
                <a:gridCol w="554489"/>
                <a:gridCol w="554489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F'cast Act.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Real Sales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Cierre proy.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% Real vs Bgt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W1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W2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W3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Envolventes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91.536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83.329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80.178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83.329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78A00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112%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118%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78A00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Refrigeración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43.141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41.293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33.426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41.293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146%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134.677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124.622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113.604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124.622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107%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101%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105%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KingCore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27.974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25.931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25.209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25.209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78A00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121%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34%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78A00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141%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Single Skin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20.387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4.594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3.251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4.594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306%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125%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Ducto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1.385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1.044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1.044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1.044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264%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Estándar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49.746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31.569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29.504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30.847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160%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78A00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139%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Línea Arquitectónica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3.182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718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F2937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187.605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156.909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143.372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F2937"/>
                          </a:solidFill>
                          <a:latin typeface="Calibri"/>
                        </a:rPr>
                        <a:t>155.733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62828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113%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78A00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78A00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109%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11480" y="4965192"/>
            <a:ext cx="7223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W1–W4 = cumplimiento semanal: Real/Proy de la semana ÷ F'cast semanal.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330952"/>
            <a:ext cx="7223760" cy="1115568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422392"/>
            <a:ext cx="68945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ALERTAS Y TENDENCIAS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5678424"/>
            <a:ext cx="694944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C78A00"/>
                </a:solidFill>
                <a:latin typeface="Calibri"/>
              </a:rPr>
              <a:t>● 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Premium proyecta cerrar en 124.622 m² (93% del Budget); brecha de -10.055 m².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C62828"/>
                </a:solidFill>
                <a:latin typeface="Calibri"/>
              </a:rPr>
              <a:t>● 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Single Skin: Real 3.251 m² = 16% del Budget (gap -17.136 m²).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C62828"/>
                </a:solidFill>
                <a:latin typeface="Calibri"/>
              </a:rPr>
              <a:t>● 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Refrigeración: Real 33.426 m² = 77% del Budget (gap -9.715 m²).</a:t>
            </a:r>
          </a:p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C62828"/>
                </a:solidFill>
                <a:latin typeface="Calibri"/>
              </a:rPr>
              <a:t>● </a:t>
            </a:r>
            <a:r>
              <a:rPr sz="950" b="0" i="0">
                <a:solidFill>
                  <a:srgbClr val="1F2937"/>
                </a:solidFill>
                <a:latin typeface="Calibri"/>
              </a:rPr>
              <a:t>Línea Arquitectónica: Real 264 m² = 8% del Budget (gap -2.918 m²).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7863840" y="2240280"/>
          <a:ext cx="393192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7863840" y="4389120"/>
          <a:ext cx="393192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Ventas Septiembre · m² 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F'cast actual del mes en m² y valorizado en COP: precio promedio, mix y performance vs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Comité de Operaciones</a:t>
            </a:r>
          </a:p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Customer Excellence ·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Fuente: Plantilla_Ventas_OrderIntake.xlsx · Corte W4 · Semáforo: verde ≥ 95%, amarillo ≥ 85%, rojo &lt; 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REVENUE F'CAST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$ 17.903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792223"/>
            <a:ext cx="23682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incluye ICO $ 1.251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REVENUE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$ 13.648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792223"/>
            <a:ext cx="23682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82% del revenue de producto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VOLUMEN F'CAST (M²)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158.610 m²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1856231"/>
            <a:ext cx="118872" cy="1188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792223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  <a:latin typeface="Calibri"/>
              </a:rPr>
              <a:t>83%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del Budget (187.605 m²)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PRECIO PROM. PREMIUM / M²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$ 109.514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1792223"/>
            <a:ext cx="23682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Estándar: $ 46.433 / m²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11480" y="2240280"/>
          <a:ext cx="722375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6336"/>
                <a:gridCol w="919387"/>
                <a:gridCol w="963168"/>
                <a:gridCol w="1357191"/>
                <a:gridCol w="525364"/>
                <a:gridCol w="875607"/>
                <a:gridCol w="656705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Cantidad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Precio prom.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Revenue (COP)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Mix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Perf.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Envolventes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83.329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$ 110.041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$ 9.169.606.489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51%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91.536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78A00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Refrigeración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41.293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$ 108.450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$ 4.478.225.850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43.141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7D32"/>
                          </a:solidFill>
                          <a:latin typeface="Calibri"/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124.622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$ 109.514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$ 13.647.832.339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134.677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78A00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KingCore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25.931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$ 32.240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$ 836.015.895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27.974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78A00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Single Skin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4.594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$ 22.638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$ 103.998.996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20.387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Ducto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1.044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$ 50.166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$ 52.372.800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1.385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Traslúcida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2.155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$ 266.135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$ 573.520.000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Estándar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33.724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$ 46.433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$ 1.565.907.691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49.746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Línea Arquitectónica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264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$ 77.652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$ 20.500.000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3.182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  <a:latin typeface="Calibri"/>
                        </a:rPr>
                        <a:t>8%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Proyectos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$ 328.000.000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$ 533 M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62828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Fijaciones y Accesorios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$ 1.007.000.000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Puertas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17 und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$ 4.885.294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$ 83.050.000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Facturación ICO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$ 1.251.189.846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6B728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TOTAL F'cast (COP)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$ 17.903.479.876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411480" y="5779008"/>
            <a:ext cx="7223760" cy="667511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5870448"/>
            <a:ext cx="6949440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2545"/>
                </a:solidFill>
                <a:latin typeface="Calibri"/>
              </a:rPr>
              <a:t>●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Premium concentra 82% del revenue de producto ($ 13.648 M).</a:t>
            </a:r>
          </a:p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●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Bajo umbral vs Budget: Línea Arquitectónica 8%, Single Skin 23%, Proyectos 62%, Ducto 75%.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7863840" y="2194560"/>
          <a:ext cx="393192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7863840" y="4389120"/>
          <a:ext cx="393192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8046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545"/>
                </a:solidFill>
                <a:latin typeface="Calibri"/>
              </a:rPr>
              <a:t>Order Intake Septiembre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8046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Premium (Env + Refri) · Negocios ganados (m² adjudicados) vs Budget y proyección por ganar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29260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B2545"/>
                </a:solidFill>
                <a:latin typeface="Calibri"/>
              </a:rPr>
              <a:t>Comité de Operaciones</a:t>
            </a:r>
          </a:p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Customer Excellence ·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Fuente: Plantilla_Ventas_OrderIntake.xlsx · Corte W4 · Semáforo: verde ≥ 95%, amarillo ≥ 85%, rojo &lt; 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NEGOCIOS GANADOS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140.167 m²</a:t>
            </a:r>
          </a:p>
        </p:txBody>
      </p:sp>
      <p:sp>
        <p:nvSpPr>
          <p:cNvPr id="10" name="Oval 9"/>
          <p:cNvSpPr/>
          <p:nvPr/>
        </p:nvSpPr>
        <p:spPr>
          <a:xfrm>
            <a:off x="576072" y="1856231"/>
            <a:ext cx="118872" cy="118872"/>
          </a:xfrm>
          <a:prstGeom prst="ellipse">
            <a:avLst/>
          </a:prstGeom>
          <a:solidFill>
            <a:srgbClr val="C7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792223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78A00"/>
                </a:solidFill>
                <a:latin typeface="Calibri"/>
              </a:rPr>
              <a:t>95%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del Budget (147.719)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GAP VS 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-7.552 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1792223"/>
            <a:ext cx="23682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acumulado a W4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CIERRE PROYECTADO 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146.817 m²</a:t>
            </a:r>
          </a:p>
        </p:txBody>
      </p:sp>
      <p:sp>
        <p:nvSpPr>
          <p:cNvPr id="19" name="Oval 18"/>
          <p:cNvSpPr/>
          <p:nvPr/>
        </p:nvSpPr>
        <p:spPr>
          <a:xfrm>
            <a:off x="6336792" y="1856231"/>
            <a:ext cx="118872" cy="11887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1792223"/>
            <a:ext cx="2240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99% </a:t>
            </a:r>
            <a:r>
              <a:rPr sz="1000" b="0" i="0">
                <a:solidFill>
                  <a:srgbClr val="6B7280"/>
                </a:solidFill>
                <a:latin typeface="Calibri"/>
              </a:rPr>
              <a:t>con pipeline ponderado 6.650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143000"/>
            <a:ext cx="2697480" cy="96012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2" y="1234440"/>
            <a:ext cx="236829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PIPELINE MES SIGUIENTE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7152" y="1444752"/>
            <a:ext cx="2368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Calibri"/>
              </a:rPr>
              <a:t>10.400 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1792223"/>
            <a:ext cx="23682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ponderado · 20.000 m² brutos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320040" y="2240280"/>
          <a:ext cx="566928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172200" y="2240280"/>
          <a:ext cx="5623560" cy="2240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11480" y="4709160"/>
          <a:ext cx="4434839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28222"/>
                <a:gridCol w="687572"/>
                <a:gridCol w="687572"/>
                <a:gridCol w="687572"/>
                <a:gridCol w="687572"/>
                <a:gridCol w="75632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Order Intake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W1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W2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W3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36.930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36.930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36.930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36.929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147.719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Ganado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25.901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41.491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45.187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27.588*</a:t>
                      </a:r>
                    </a:p>
                  </a:txBody>
                  <a:tcPr marL="54864" marR="54864" marT="18288" marB="18288" anchor="ctr">
                    <a:solidFill>
                      <a:srgbClr val="E3EBF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F2937"/>
                          </a:solidFill>
                          <a:latin typeface="Calibri"/>
                        </a:rPr>
                        <a:t>140.167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C62828"/>
                          </a:solidFill>
                          <a:latin typeface="Calibri"/>
                        </a:rPr>
                        <a:t>-11.029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E7D32"/>
                          </a:solidFill>
                          <a:latin typeface="Calibri"/>
                        </a:rPr>
                        <a:t>4.561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2E7D32"/>
                          </a:solidFill>
                          <a:latin typeface="Calibri"/>
                        </a:rPr>
                        <a:t>8.257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C62828"/>
                          </a:solidFill>
                          <a:latin typeface="Calibri"/>
                        </a:rPr>
                        <a:t>-9.341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C62828"/>
                          </a:solidFill>
                          <a:latin typeface="Calibri"/>
                        </a:rPr>
                        <a:t>-7.552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% Cumpl.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62828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112%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E7D32"/>
                          </a:solidFill>
                          <a:latin typeface="Calibri"/>
                        </a:rPr>
                        <a:t>122%</a:t>
                      </a:r>
                    </a:p>
                  </a:txBody>
                  <a:tcPr marL="54864" marR="54864" marT="18288" marB="18288" anchor="ctr">
                    <a:solidFill>
                      <a:srgbClr val="DCF0D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62828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BDAD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78A00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marL="54864" marR="54864" marT="18288" marB="18288" anchor="ctr">
                    <a:solidFill>
                      <a:srgbClr val="FFF0C2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11480" y="6263640"/>
            <a:ext cx="4434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* W4 en curso: valor parcial al corte.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0" y="4709160"/>
          <a:ext cx="4434837" cy="1325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8187"/>
                <a:gridCol w="839023"/>
                <a:gridCol w="519395"/>
                <a:gridCol w="439488"/>
                <a:gridCol w="559349"/>
                <a:gridCol w="519395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Negocio por ganar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Línea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m²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Prob.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Pond.</a:t>
                      </a:r>
                    </a:p>
                  </a:txBody>
                  <a:tcPr marL="54864" marR="54864" marT="18288" marB="18288" anchor="ctr">
                    <a:solidFill>
                      <a:srgbClr val="0B254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Oportunidad C (ejemplo)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Envolventes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12.000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Mes sig.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937"/>
                          </a:solidFill>
                          <a:latin typeface="Calibri"/>
                        </a:rPr>
                        <a:t>7.200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Oportunidad A (ejemplo)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Envolventes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6.500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937"/>
                          </a:solidFill>
                          <a:latin typeface="Calibri"/>
                        </a:rPr>
                        <a:t>4.550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Oportunidad D (ejemplo)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Refrigeración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8.000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Mes sig.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937"/>
                          </a:solidFill>
                          <a:latin typeface="Calibri"/>
                        </a:rPr>
                        <a:t>3.200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Oportunidad B (ejemplo)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Refrigeración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4.200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2937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1F2937"/>
                          </a:solidFill>
                          <a:latin typeface="Calibri"/>
                        </a:rPr>
                        <a:t>2.100</a:t>
                      </a:r>
                    </a:p>
                  </a:txBody>
                  <a:tcPr marL="54864" marR="54864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DE2E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9646920" y="4663440"/>
            <a:ext cx="2148840" cy="178308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2" y="4754879"/>
            <a:ext cx="18196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alibri"/>
              </a:rPr>
              <a:t>ALERTAS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5010912"/>
            <a:ext cx="1874520" cy="1371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78A00"/>
                </a:solidFill>
                <a:latin typeface="Calibri"/>
              </a:rPr>
              <a:t>●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Acumulado 95% del Budget; gap -7.552 m².</a:t>
            </a:r>
          </a:p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●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Semanas bajo umbral: W1 (70%), W4 (75%).</a:t>
            </a:r>
          </a:p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C78A00"/>
                </a:solidFill>
                <a:latin typeface="Calibri"/>
              </a:rPr>
              <a:t>● </a:t>
            </a:r>
            <a:r>
              <a:rPr sz="900" b="0" i="0">
                <a:solidFill>
                  <a:srgbClr val="1F2937"/>
                </a:solidFill>
                <a:latin typeface="Calibri"/>
              </a:rPr>
              <a:t>Pipeline del mes cubre 88% del gap (6.650 de 7.552 m²).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