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C:\Comite_Ventas\Base_Comite_Ventas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file:///C:\Comite_Ventas\Base_Comite_Ventas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file:///C:\Comite_Ventas\Base_Comite_Ventas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file:///C:\Comite_Ventas\Base_Comite_Ventas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file:///C:\Comite_Ventas\Base_Comite_Ventas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file:///C:\Comite_Ventas\Base_Comite_Vent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Premium semanal (m²)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PPT_1!$CC$2</c:f>
              <c:strCache>
                <c:ptCount val="1"/>
                <c:pt idx="0">
                  <c:v>F'cast semanal</c:v>
                </c:pt>
              </c:strCache>
            </c:strRef>
          </c:tx>
          <c:spPr>
            <a:solidFill>
              <a:srgbClr val="8FB3D9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PPT_1!$CB$3:$CB$6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PPT_1!$CC$3:$CC$6</c:f>
              <c:numCache>
                <c:formatCode>General</c:formatCode>
                <c:ptCount val="4"/>
                <c:pt idx="0">
                  <c:v>38633</c:v>
                </c:pt>
                <c:pt idx="1">
                  <c:v>24925</c:v>
                </c:pt>
                <c:pt idx="2">
                  <c:v>29909</c:v>
                </c:pt>
                <c:pt idx="3">
                  <c:v>31155</c:v>
                </c:pt>
              </c:numCache>
            </c:numRef>
          </c:val>
        </c:ser>
        <c:ser>
          <c:idx val="1"/>
          <c:order val="1"/>
          <c:tx>
            <c:strRef>
              <c:f>PPT_1!$CD$2</c:f>
              <c:strCache>
                <c:ptCount val="1"/>
                <c:pt idx="0">
                  <c:v>Real/Proy semanal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PPT_1!$CB$3:$CB$6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PPT_1!$CD$3:$CD$6</c:f>
              <c:numCache>
                <c:formatCode>General</c:formatCode>
                <c:ptCount val="4"/>
                <c:pt idx="0">
                  <c:v>41472</c:v>
                </c:pt>
                <c:pt idx="1">
                  <c:v>25162</c:v>
                </c:pt>
                <c:pt idx="2">
                  <c:v>25413</c:v>
                </c:pt>
                <c:pt idx="3">
                  <c:v>32575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Budget vs F'cast vs Real (m²)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PPT_1!$CI$2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3C9D1"/>
            </a:solidFill>
          </c:spPr>
          <c:cat>
            <c:strRef>
              <c:f>PPT_1!$CH$3:$CH$8</c:f>
              <c:strCache>
                <c:ptCount val="6"/>
                <c:pt idx="0">
                  <c:v>Envolventes</c:v>
                </c:pt>
                <c:pt idx="1">
                  <c:v>Refrigeración</c:v>
                </c:pt>
                <c:pt idx="2">
                  <c:v>KingCore</c:v>
                </c:pt>
                <c:pt idx="3">
                  <c:v>Single Skin</c:v>
                </c:pt>
                <c:pt idx="4">
                  <c:v>Ducto</c:v>
                </c:pt>
                <c:pt idx="5">
                  <c:v>Línea Arquitectónica</c:v>
                </c:pt>
              </c:strCache>
            </c:strRef>
          </c:cat>
          <c:val>
            <c:numRef>
              <c:f>PPT_1!$CI$3:$CI$8</c:f>
              <c:numCache>
                <c:formatCode>General</c:formatCode>
                <c:ptCount val="6"/>
                <c:pt idx="0">
                  <c:v>91536</c:v>
                </c:pt>
                <c:pt idx="1">
                  <c:v>43141</c:v>
                </c:pt>
                <c:pt idx="2">
                  <c:v>27974</c:v>
                </c:pt>
                <c:pt idx="3">
                  <c:v>20387</c:v>
                </c:pt>
                <c:pt idx="4">
                  <c:v>1385</c:v>
                </c:pt>
                <c:pt idx="5">
                  <c:v>3182</c:v>
                </c:pt>
              </c:numCache>
            </c:numRef>
          </c:val>
        </c:ser>
        <c:ser>
          <c:idx val="1"/>
          <c:order val="1"/>
          <c:tx>
            <c:strRef>
              <c:f>PPT_1!$CJ$2</c:f>
              <c:strCache>
                <c:ptCount val="1"/>
                <c:pt idx="0">
                  <c:v>F'cast actual</c:v>
                </c:pt>
              </c:strCache>
            </c:strRef>
          </c:tx>
          <c:spPr>
            <a:solidFill>
              <a:srgbClr val="8FB3D9"/>
            </a:solidFill>
          </c:spPr>
          <c:cat>
            <c:strRef>
              <c:f>PPT_1!$CH$3:$CH$8</c:f>
              <c:strCache>
                <c:ptCount val="6"/>
                <c:pt idx="0">
                  <c:v>Envolventes</c:v>
                </c:pt>
                <c:pt idx="1">
                  <c:v>Refrigeración</c:v>
                </c:pt>
                <c:pt idx="2">
                  <c:v>KingCore</c:v>
                </c:pt>
                <c:pt idx="3">
                  <c:v>Single Skin</c:v>
                </c:pt>
                <c:pt idx="4">
                  <c:v>Ducto</c:v>
                </c:pt>
                <c:pt idx="5">
                  <c:v>Línea Arquitectónica</c:v>
                </c:pt>
              </c:strCache>
            </c:strRef>
          </c:cat>
          <c:val>
            <c:numRef>
              <c:f>PPT_1!$CJ$3:$CJ$8</c:f>
              <c:numCache>
                <c:formatCode>General</c:formatCode>
                <c:ptCount val="6"/>
                <c:pt idx="0">
                  <c:v>83329</c:v>
                </c:pt>
                <c:pt idx="1">
                  <c:v>41293</c:v>
                </c:pt>
                <c:pt idx="2">
                  <c:v>25931</c:v>
                </c:pt>
                <c:pt idx="3">
                  <c:v>4594</c:v>
                </c:pt>
                <c:pt idx="4">
                  <c:v>1044</c:v>
                </c:pt>
                <c:pt idx="5">
                  <c:v>718</c:v>
                </c:pt>
              </c:numCache>
            </c:numRef>
          </c:val>
        </c:ser>
        <c:ser>
          <c:idx val="2"/>
          <c:order val="2"/>
          <c:tx>
            <c:strRef>
              <c:f>PPT_1!$CK$2</c:f>
              <c:strCache>
                <c:ptCount val="1"/>
                <c:pt idx="0">
                  <c:v>Real Sales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PPT_1!$CH$3:$CH$8</c:f>
              <c:strCache>
                <c:ptCount val="6"/>
                <c:pt idx="0">
                  <c:v>Envolventes</c:v>
                </c:pt>
                <c:pt idx="1">
                  <c:v>Refrigeración</c:v>
                </c:pt>
                <c:pt idx="2">
                  <c:v>KingCore</c:v>
                </c:pt>
                <c:pt idx="3">
                  <c:v>Single Skin</c:v>
                </c:pt>
                <c:pt idx="4">
                  <c:v>Ducto</c:v>
                </c:pt>
                <c:pt idx="5">
                  <c:v>Línea Arquitectónica</c:v>
                </c:pt>
              </c:strCache>
            </c:strRef>
          </c:cat>
          <c:val>
            <c:numRef>
              <c:f>PPT_1!$CK$3:$CK$8</c:f>
              <c:numCache>
                <c:formatCode>General</c:formatCode>
                <c:ptCount val="6"/>
                <c:pt idx="0">
                  <c:v>80178</c:v>
                </c:pt>
                <c:pt idx="1">
                  <c:v>33426</c:v>
                </c:pt>
                <c:pt idx="2">
                  <c:v>25209</c:v>
                </c:pt>
                <c:pt idx="3">
                  <c:v>3251</c:v>
                </c:pt>
                <c:pt idx="4">
                  <c:v>1044</c:v>
                </c:pt>
                <c:pt idx="5">
                  <c:v>264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8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Mix de revenue por grupo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PPT_2!$CC$2</c:f>
              <c:strCache>
                <c:ptCount val="1"/>
                <c:pt idx="0">
                  <c:v>Revenue (M COP)</c:v>
                </c:pt>
              </c:strCache>
            </c:strRef>
          </c:tx>
          <c:dPt>
            <c:idx val="0"/>
            <c:spPr>
              <a:solidFill>
                <a:srgbClr val="0B2545"/>
              </a:solidFill>
            </c:spPr>
          </c:dPt>
          <c:dPt>
            <c:idx val="1"/>
            <c:spPr>
              <a:solidFill>
                <a:srgbClr val="1F6FB2"/>
              </a:solidFill>
            </c:spPr>
          </c:dPt>
          <c:dPt>
            <c:idx val="2"/>
            <c:spPr>
              <a:solidFill>
                <a:srgbClr val="5F9EA0"/>
              </a:solidFill>
            </c:spPr>
          </c:dPt>
          <c:dPt>
            <c:idx val="3"/>
            <c:spPr>
              <a:solidFill>
                <a:srgbClr val="8FB3D9"/>
              </a:solidFill>
            </c:spPr>
          </c:dPt>
          <c:dPt>
            <c:idx val="4"/>
            <c:spPr>
              <a:solidFill>
                <a:srgbClr val="9AA5B1"/>
              </a:solidFill>
            </c:spPr>
          </c:dPt>
          <c:dPt>
            <c:idx val="5"/>
            <c:spPr>
              <a:solidFill>
                <a:srgbClr val="D9B36C"/>
              </a:solidFill>
            </c:spPr>
          </c:dPt>
          <c:dPt>
            <c:idx val="6"/>
            <c:spPr>
              <a:solidFill>
                <a:srgbClr val="E07A5F"/>
              </a:solidFill>
            </c:spPr>
          </c:dPt>
          <c:dLbls>
            <c:numFmt formatCode="[&lt;0.04]&quot;&quot;;0%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PPT_2!$CB$3:$CB$9</c:f>
              <c:strCache>
                <c:ptCount val="7"/>
                <c:pt idx="0">
                  <c:v>Premium</c:v>
                </c:pt>
                <c:pt idx="1">
                  <c:v>Estándar</c:v>
                </c:pt>
                <c:pt idx="2">
                  <c:v>Arquitectónica</c:v>
                </c:pt>
                <c:pt idx="3">
                  <c:v>Proyectos</c:v>
                </c:pt>
                <c:pt idx="4">
                  <c:v>Accesorios</c:v>
                </c:pt>
                <c:pt idx="5">
                  <c:v>Puertas</c:v>
                </c:pt>
                <c:pt idx="6">
                  <c:v>ICO</c:v>
                </c:pt>
              </c:strCache>
            </c:strRef>
          </c:cat>
          <c:val>
            <c:numRef>
              <c:f>PPT_2!$CC$3:$CC$9</c:f>
              <c:numCache>
                <c:formatCode>General</c:formatCode>
                <c:ptCount val="7"/>
                <c:pt idx="0">
                  <c:v>13647.832339</c:v>
                </c:pt>
                <c:pt idx="1">
                  <c:v>1565.907691</c:v>
                </c:pt>
                <c:pt idx="2">
                  <c:v>20.5</c:v>
                </c:pt>
                <c:pt idx="3">
                  <c:v>328</c:v>
                </c:pt>
                <c:pt idx="4">
                  <c:v>1007</c:v>
                </c:pt>
                <c:pt idx="5">
                  <c:v>83.05</c:v>
                </c:pt>
                <c:pt idx="6">
                  <c:v>1251.189846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/>
    </a:p>
  </c:txPr>
  <c:externalData r:id="rId1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Revenue por línea (millones COP)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PPT_2!$CI$2</c:f>
              <c:strCache>
                <c:ptCount val="1"/>
                <c:pt idx="0">
                  <c:v>Revenue (M COP)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PPT_2!$CH$3:$CH$14</c:f>
              <c:strCache>
                <c:ptCount val="12"/>
                <c:pt idx="0">
                  <c:v>Envolventes</c:v>
                </c:pt>
                <c:pt idx="1">
                  <c:v>Refrigeración</c:v>
                </c:pt>
                <c:pt idx="2">
                  <c:v>Facturación ICO</c:v>
                </c:pt>
                <c:pt idx="3">
                  <c:v>Fijaciones y Accesorios</c:v>
                </c:pt>
                <c:pt idx="4">
                  <c:v>KingCore</c:v>
                </c:pt>
                <c:pt idx="5">
                  <c:v>Traslúcida</c:v>
                </c:pt>
                <c:pt idx="6">
                  <c:v>Proyectos</c:v>
                </c:pt>
                <c:pt idx="7">
                  <c:v>Single Skin</c:v>
                </c:pt>
                <c:pt idx="8">
                  <c:v>Puertas</c:v>
                </c:pt>
                <c:pt idx="9">
                  <c:v>Ducto</c:v>
                </c:pt>
                <c:pt idx="10">
                  <c:v>Línea Arquitectónica</c:v>
                </c:pt>
                <c:pt idx="11">
                  <c:v>Consumibles</c:v>
                </c:pt>
              </c:strCache>
            </c:strRef>
          </c:cat>
          <c:val>
            <c:numRef>
              <c:f>PPT_2!$CI$3:$CI$14</c:f>
              <c:numCache>
                <c:formatCode>General</c:formatCode>
                <c:ptCount val="12"/>
                <c:pt idx="0">
                  <c:v>9169.606489</c:v>
                </c:pt>
                <c:pt idx="1">
                  <c:v>4478.22585</c:v>
                </c:pt>
                <c:pt idx="2">
                  <c:v>1251.189846</c:v>
                </c:pt>
                <c:pt idx="3">
                  <c:v>1007</c:v>
                </c:pt>
                <c:pt idx="4">
                  <c:v>836.015895</c:v>
                </c:pt>
                <c:pt idx="5">
                  <c:v>573.52</c:v>
                </c:pt>
                <c:pt idx="6">
                  <c:v>328</c:v>
                </c:pt>
                <c:pt idx="7">
                  <c:v>103.998996</c:v>
                </c:pt>
                <c:pt idx="8">
                  <c:v>83.05</c:v>
                </c:pt>
                <c:pt idx="9">
                  <c:v>52.3728</c:v>
                </c:pt>
                <c:pt idx="10">
                  <c:v>20.5</c:v>
                </c:pt>
                <c:pt idx="11">
                  <c:v>0</c:v>
                </c:pt>
              </c:numCache>
            </c:numRef>
          </c:val>
        </c:ser>
        <c:gapWidth val="3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8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Order Intake semanal (m²)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PPT_3!$CC$2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3C9D1"/>
            </a:solidFill>
          </c:spPr>
          <c:cat>
            <c:strRef>
              <c:f>PPT_3!$CB$3:$CB$6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PPT_3!$CC$3:$CC$6</c:f>
              <c:numCache>
                <c:formatCode>General</c:formatCode>
                <c:ptCount val="4"/>
                <c:pt idx="0">
                  <c:v>36930</c:v>
                </c:pt>
                <c:pt idx="1">
                  <c:v>36930</c:v>
                </c:pt>
                <c:pt idx="2">
                  <c:v>36930</c:v>
                </c:pt>
                <c:pt idx="3">
                  <c:v>36929</c:v>
                </c:pt>
              </c:numCache>
            </c:numRef>
          </c:val>
        </c:ser>
        <c:ser>
          <c:idx val="1"/>
          <c:order val="1"/>
          <c:tx>
            <c:strRef>
              <c:f>PPT_3!$CD$2</c:f>
              <c:strCache>
                <c:ptCount val="1"/>
                <c:pt idx="0">
                  <c:v>Ganado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PPT_3!$CB$3:$CB$6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PPT_3!$CD$3:$CD$6</c:f>
              <c:numCache>
                <c:formatCode>General</c:formatCode>
                <c:ptCount val="4"/>
                <c:pt idx="0">
                  <c:v>25901</c:v>
                </c:pt>
                <c:pt idx="1">
                  <c:v>41491</c:v>
                </c:pt>
                <c:pt idx="2">
                  <c:v>45187</c:v>
                </c:pt>
                <c:pt idx="3">
                  <c:v>27588</c:v>
                </c:pt>
              </c:numCache>
            </c:numRef>
          </c:val>
        </c:ser>
        <c:ser>
          <c:idx val="2"/>
          <c:order val="2"/>
          <c:tx>
            <c:strRef>
              <c:f>PPT_3!$CE$2</c:f>
              <c:strCache>
                <c:ptCount val="1"/>
                <c:pt idx="0">
                  <c:v>Por ganar (ponderado)</c:v>
                </c:pt>
              </c:strCache>
            </c:strRef>
          </c:tx>
          <c:spPr>
            <a:solidFill>
              <a:srgbClr val="8FB3D9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PPT_3!$CB$3:$CB$6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PPT_3!$CE$3:$CE$6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6650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Acumulado del mes vs Budget (m²)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PPT_3!$CI$2</c:f>
              <c:strCache>
                <c:ptCount val="1"/>
                <c:pt idx="0">
                  <c:v>Budget acumulado</c:v>
                </c:pt>
              </c:strCache>
            </c:strRef>
          </c:tx>
          <c:spPr>
            <a:ln w="28575">
              <a:solidFill>
                <a:srgbClr val="C3C9D1"/>
              </a:solidFill>
            </a:ln>
          </c:spPr>
          <c:marker>
            <c:symbol val="circle"/>
            <c:size val="6"/>
            <c:spPr>
              <a:solidFill>
                <a:srgbClr val="C3C9D1"/>
              </a:solidFill>
              <a:ln>
                <a:solidFill>
                  <a:srgbClr val="C3C9D1"/>
                </a:solidFill>
              </a:ln>
            </c:spPr>
          </c:marke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6B728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PPT_3!$CH$3:$CH$6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PPT_3!$CI$3:$CI$6</c:f>
              <c:numCache>
                <c:formatCode>General</c:formatCode>
                <c:ptCount val="4"/>
                <c:pt idx="0">
                  <c:v>36930</c:v>
                </c:pt>
                <c:pt idx="1">
                  <c:v>73860</c:v>
                </c:pt>
                <c:pt idx="2">
                  <c:v>110790</c:v>
                </c:pt>
                <c:pt idx="3">
                  <c:v>147719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PPT_3!$CJ$2</c:f>
              <c:strCache>
                <c:ptCount val="1"/>
                <c:pt idx="0">
                  <c:v>Ganado acumulado</c:v>
                </c:pt>
              </c:strCache>
            </c:strRef>
          </c:tx>
          <c:spPr>
            <a:ln w="28575">
              <a:solidFill>
                <a:srgbClr val="0B2545"/>
              </a:solidFill>
            </a:ln>
          </c:spPr>
          <c:marker>
            <c:symbol val="circle"/>
            <c:size val="6"/>
            <c:spPr>
              <a:solidFill>
                <a:srgbClr val="0B2545"/>
              </a:solidFill>
              <a:ln>
                <a:solidFill>
                  <a:srgbClr val="0B2545"/>
                </a:solidFill>
              </a:ln>
            </c:spPr>
          </c:marker>
          <c:dLbls>
            <c:numFmt formatCode="#,##0;-#,##0;;" sourceLinked="0"/>
            <c:txPr>
              <a:bodyPr/>
              <a:lstStyle/>
              <a:p>
                <a:pPr>
                  <a:defRPr sz="800" b="1">
                    <a:solidFill>
                      <a:srgbClr val="0B2545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PPT_3!$CH$3:$CH$6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PPT_3!$CJ$3:$CJ$6</c:f>
              <c:numCache>
                <c:formatCode>General</c:formatCode>
                <c:ptCount val="4"/>
                <c:pt idx="0">
                  <c:v>25901</c:v>
                </c:pt>
                <c:pt idx="1">
                  <c:v>67392</c:v>
                </c:pt>
                <c:pt idx="2">
                  <c:v>112579</c:v>
                </c:pt>
                <c:pt idx="3">
                  <c:v>140167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PPT_3!$CK$2</c:f>
              <c:strCache>
                <c:ptCount val="1"/>
                <c:pt idx="0">
                  <c:v>Proyectado (ganado + pipeline)</c:v>
                </c:pt>
              </c:strCache>
            </c:strRef>
          </c:tx>
          <c:spPr>
            <a:ln w="28575">
              <a:solidFill>
                <a:srgbClr val="1F6FB2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1F6FB2"/>
              </a:solidFill>
              <a:ln>
                <a:solidFill>
                  <a:srgbClr val="1F6FB2"/>
                </a:solidFill>
              </a:ln>
            </c:spPr>
          </c:marker>
          <c:cat>
            <c:strRef>
              <c:f>PPT_3!$CH$3:$CH$6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PPT_3!$CK$3:$CK$6</c:f>
              <c:numCache>
                <c:formatCode>General</c:formatCode>
                <c:ptCount val="4"/>
                <c:pt idx="0">
                  <c:v>25901</c:v>
                </c:pt>
                <c:pt idx="1">
                  <c:v>67392</c:v>
                </c:pt>
                <c:pt idx="2">
                  <c:v>112579</c:v>
                </c:pt>
                <c:pt idx="3">
                  <c:v>146817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1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vinculada a Base_Comite_Ventas.xlsx (hoja PPT_1). Encabezado, KPIs, tabla y alertas son rangos de Excel vinculados; los gráficos toman sus datos del mismo libro.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vinculada a Base_Comite_Ventas.xlsx (hoja PPT_2). El subtotal Estándar incluye Traslúcida; su % de performance se mide solo sobre las líneas que tienen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vinculada a Base_Comite_Ventas.xlsx (hoja PPT_3). Proyección = pipeline ponderado (m² × probabilidad) de la hoja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oleObject" Target="file:///C:\Comite_Ventas\Base_Comite_Ventas.xlsx!S1_Encabezado" TargetMode="External"/><Relationship Id="rId4" Type="http://schemas.openxmlformats.org/officeDocument/2006/relationships/image" Target="../media/image2.png"/><Relationship Id="rId5" Type="http://schemas.openxmlformats.org/officeDocument/2006/relationships/oleObject" Target="file:///C:\Comite_Ventas\Base_Comite_Ventas.xlsx!S1_Tabla" TargetMode="External"/><Relationship Id="rId6" Type="http://schemas.openxmlformats.org/officeDocument/2006/relationships/image" Target="../media/image3.png"/><Relationship Id="rId7" Type="http://schemas.openxmlformats.org/officeDocument/2006/relationships/oleObject" Target="file:///C:\Comite_Ventas\Base_Comite_Ventas.xlsx!S1_Alertas" TargetMode="External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oleObject" Target="file:///C:\Comite_Ventas\Base_Comite_Ventas.xlsx!S2_Encabezado" TargetMode="External"/><Relationship Id="rId4" Type="http://schemas.openxmlformats.org/officeDocument/2006/relationships/image" Target="../media/image5.png"/><Relationship Id="rId5" Type="http://schemas.openxmlformats.org/officeDocument/2006/relationships/oleObject" Target="file:///C:\Comite_Ventas\Base_Comite_Ventas.xlsx!S2_Tabla" TargetMode="External"/><Relationship Id="rId6" Type="http://schemas.openxmlformats.org/officeDocument/2006/relationships/image" Target="../media/image6.png"/><Relationship Id="rId7" Type="http://schemas.openxmlformats.org/officeDocument/2006/relationships/oleObject" Target="file:///C:\Comite_Ventas\Base_Comite_Ventas.xlsx!S2_Alertas" TargetMode="External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oleObject" Target="file:///C:\Comite_Ventas\Base_Comite_Ventas.xlsx!S3_Encabezado" TargetMode="External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image" Target="../media/image8.png"/><Relationship Id="rId7" Type="http://schemas.openxmlformats.org/officeDocument/2006/relationships/oleObject" Target="file:///C:\Comite_Ventas\Base_Comite_Ventas.xlsx!S3_Tabla" TargetMode="External"/><Relationship Id="rId8" Type="http://schemas.openxmlformats.org/officeDocument/2006/relationships/image" Target="../media/image9.png"/><Relationship Id="rId9" Type="http://schemas.openxmlformats.org/officeDocument/2006/relationships/oleObject" Target="file:///C:\Comite_Ventas\Base_Comite_Ventas.xlsx!S3_Pipeline" TargetMode="External"/><Relationship Id="rId10" Type="http://schemas.openxmlformats.org/officeDocument/2006/relationships/image" Target="../media/image10.png"/><Relationship Id="rId11" Type="http://schemas.openxmlformats.org/officeDocument/2006/relationships/oleObject" Target="file:///C:\Comite_Ventas\Base_Comite_Ventas.xlsx!S3_Alertas" TargetMode="External"/><Relationship Id="rId1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1_Encabezado" descr="Rango vinculado S1_Encabezado de Base_Comite_Ventas.xlsx"/>
          <p:cNvGraphicFramePr>
            <a:graphicFrameLocks noChangeAspect="1"/>
          </p:cNvGraphicFramePr>
          <p:nvPr/>
        </p:nvGraphicFramePr>
        <p:xfrm>
          <a:off x="411480" y="228600"/>
          <a:ext cx="11325225" cy="2006600"/>
        </p:xfrm>
        <a:graphic>
          <a:graphicData uri="http://schemas.openxmlformats.org/presentationml/2006/ole">
            <p:oleObj name="Worksheet" r:id="rId3" imgW="11325225" imgH="20066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11480" y="228600"/>
                    <a:ext cx="11325225" cy="20066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3" name="S1_Tabla" descr="Rango vinculado S1_Tabla de Base_Comite_Ventas.xlsx"/>
          <p:cNvGraphicFramePr>
            <a:graphicFrameLocks noChangeAspect="1"/>
          </p:cNvGraphicFramePr>
          <p:nvPr/>
        </p:nvGraphicFramePr>
        <p:xfrm>
          <a:off x="411480" y="2331720"/>
          <a:ext cx="7219950" cy="2876550"/>
        </p:xfrm>
        <a:graphic>
          <a:graphicData uri="http://schemas.openxmlformats.org/presentationml/2006/ole">
            <p:oleObj name="Worksheet" r:id="rId5" imgW="7219950" imgH="287655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11480" y="2331720"/>
                    <a:ext cx="7219950" cy="287655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4" name="S1_Alertas" descr="Rango vinculado S1_Alertas de Base_Comite_Ventas.xlsx"/>
          <p:cNvGraphicFramePr>
            <a:graphicFrameLocks noChangeAspect="1"/>
          </p:cNvGraphicFramePr>
          <p:nvPr/>
        </p:nvGraphicFramePr>
        <p:xfrm>
          <a:off x="411480" y="5349240"/>
          <a:ext cx="7219950" cy="1066800"/>
        </p:xfrm>
        <a:graphic>
          <a:graphicData uri="http://schemas.openxmlformats.org/presentationml/2006/ole">
            <p:oleObj name="Worksheet" r:id="rId7" imgW="7219950" imgH="10668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11480" y="5349240"/>
                    <a:ext cx="7219950" cy="10668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863840" y="2240280"/>
          <a:ext cx="3931920" cy="210312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863840" y="4389120"/>
          <a:ext cx="3931920" cy="210312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51052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Fuente: Base_Comite_Ventas.xlsx (vinculado) · Para actualizar: Archivo &gt; Información &gt; Editar vínculos a archivos &gt; Actualizar ahora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2_Encabezado" descr="Rango vinculado S2_Encabezado de Base_Comite_Ventas.xlsx"/>
          <p:cNvGraphicFramePr>
            <a:graphicFrameLocks noChangeAspect="1"/>
          </p:cNvGraphicFramePr>
          <p:nvPr/>
        </p:nvGraphicFramePr>
        <p:xfrm>
          <a:off x="411480" y="228600"/>
          <a:ext cx="11325225" cy="2006600"/>
        </p:xfrm>
        <a:graphic>
          <a:graphicData uri="http://schemas.openxmlformats.org/presentationml/2006/ole">
            <p:oleObj name="Worksheet" r:id="rId3" imgW="11325225" imgH="20066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11480" y="228600"/>
                    <a:ext cx="11325225" cy="20066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3" name="S2_Tabla" descr="Rango vinculado S2_Tabla de Base_Comite_Ventas.xlsx"/>
          <p:cNvGraphicFramePr>
            <a:graphicFrameLocks noChangeAspect="1"/>
          </p:cNvGraphicFramePr>
          <p:nvPr/>
        </p:nvGraphicFramePr>
        <p:xfrm>
          <a:off x="411480" y="2286000"/>
          <a:ext cx="7219950" cy="3517900"/>
        </p:xfrm>
        <a:graphic>
          <a:graphicData uri="http://schemas.openxmlformats.org/presentationml/2006/ole">
            <p:oleObj name="Worksheet" r:id="rId5" imgW="7219950" imgH="35179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11480" y="2286000"/>
                    <a:ext cx="7219950" cy="35179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4" name="S2_Alertas" descr="Rango vinculado S2_Alertas de Base_Comite_Ventas.xlsx"/>
          <p:cNvGraphicFramePr>
            <a:graphicFrameLocks noChangeAspect="1"/>
          </p:cNvGraphicFramePr>
          <p:nvPr/>
        </p:nvGraphicFramePr>
        <p:xfrm>
          <a:off x="411480" y="5877052"/>
          <a:ext cx="7219950" cy="533400"/>
        </p:xfrm>
        <a:graphic>
          <a:graphicData uri="http://schemas.openxmlformats.org/presentationml/2006/ole">
            <p:oleObj name="Worksheet" r:id="rId7" imgW="7219950" imgH="5334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11480" y="5877052"/>
                    <a:ext cx="7219950" cy="5334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863840" y="2194560"/>
          <a:ext cx="3931920" cy="214884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863840" y="4389120"/>
          <a:ext cx="3931920" cy="210312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51052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Fuente: Base_Comite_Ventas.xlsx (vinculado) · Para actualizar: Archivo &gt; Información &gt; Editar vínculos a archivos &gt; Actualizar ahora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3_Encabezado" descr="Rango vinculado S3_Encabezado de Base_Comite_Ventas.xlsx"/>
          <p:cNvGraphicFramePr>
            <a:graphicFrameLocks noChangeAspect="1"/>
          </p:cNvGraphicFramePr>
          <p:nvPr/>
        </p:nvGraphicFramePr>
        <p:xfrm>
          <a:off x="411480" y="228600"/>
          <a:ext cx="11325225" cy="2006600"/>
        </p:xfrm>
        <a:graphic>
          <a:graphicData uri="http://schemas.openxmlformats.org/presentationml/2006/ole">
            <p:oleObj name="Worksheet" r:id="rId3" imgW="11325225" imgH="20066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11480" y="228600"/>
                    <a:ext cx="11325225" cy="20066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20040" y="2240280"/>
          <a:ext cx="56692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72200" y="2240280"/>
          <a:ext cx="5623560" cy="2240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5" name="S3_Tabla" descr="Rango vinculado S3_Tabla de Base_Comite_Ventas.xlsx"/>
          <p:cNvGraphicFramePr>
            <a:graphicFrameLocks noChangeAspect="1"/>
          </p:cNvGraphicFramePr>
          <p:nvPr/>
        </p:nvGraphicFramePr>
        <p:xfrm>
          <a:off x="411480" y="4663440"/>
          <a:ext cx="4438650" cy="1600200"/>
        </p:xfrm>
        <a:graphic>
          <a:graphicData uri="http://schemas.openxmlformats.org/presentationml/2006/ole">
            <p:oleObj name="Worksheet" r:id="rId7" imgW="4438650" imgH="16002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11480" y="4663440"/>
                    <a:ext cx="4438650" cy="16002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6" name="S3_Pipeline" descr="Rango vinculado S3_Pipeline de Base_Comite_Ventas.xlsx"/>
          <p:cNvGraphicFramePr>
            <a:graphicFrameLocks noChangeAspect="1"/>
          </p:cNvGraphicFramePr>
          <p:nvPr/>
        </p:nvGraphicFramePr>
        <p:xfrm>
          <a:off x="5029200" y="4663440"/>
          <a:ext cx="4438650" cy="1517650"/>
        </p:xfrm>
        <a:graphic>
          <a:graphicData uri="http://schemas.openxmlformats.org/presentationml/2006/ole">
            <p:oleObj name="Worksheet" r:id="rId9" imgW="4438650" imgH="151765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029200" y="4663440"/>
                    <a:ext cx="4438650" cy="151765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7" name="S3_Alertas" descr="Rango vinculado S3_Alertas de Base_Comite_Ventas.xlsx"/>
          <p:cNvGraphicFramePr>
            <a:graphicFrameLocks noChangeAspect="1"/>
          </p:cNvGraphicFramePr>
          <p:nvPr/>
        </p:nvGraphicFramePr>
        <p:xfrm>
          <a:off x="9646920" y="4617720"/>
          <a:ext cx="2152650" cy="1663700"/>
        </p:xfrm>
        <a:graphic>
          <a:graphicData uri="http://schemas.openxmlformats.org/presentationml/2006/ole">
            <p:oleObj name="Worksheet" r:id="rId11" imgW="2152650" imgH="1663700" progId="Excel.Sheet.12">
              <p:link updateAutomatic="1"/>
              <p:pic>
                <p:nvPicPr>
                  <p:cNvPr id="0" name="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646920" y="4617720"/>
                    <a:ext cx="2152650" cy="16637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510528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Fuente: Base_Comite_Ventas.xlsx (vinculado) · Para actualizar: Archivo &gt; Información &gt; Editar vínculos a archivos &gt; Actualizar 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